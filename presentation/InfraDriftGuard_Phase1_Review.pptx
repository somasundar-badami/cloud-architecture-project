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two paths: A-G detection path triggered hourly by EventBridge; 1-5 user path through Cognito and API Gateway. Terraform renders the desired state into the Lambda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F3A5F"/>
                </a:solidFill>
              </a:rPr>
              <a:t>InfraDriftGuard</a:t>
            </a:r>
          </a:p>
          <a:p>
            <a:r>
              <a:rPr sz="2000">
                <a:solidFill>
                  <a:srgbClr val="555F6D"/>
                </a:solidFill>
              </a:rPr>
              <a:t>InfraDriftGuard: AI-Based Infrastructure Configuration Drift Detection and Risk Classification on AWS using Explainable Machine Learning</a:t>
            </a:r>
          </a:p>
          <a:p/>
          <a:p>
            <a:r>
              <a:rPr sz="1600">
                <a:solidFill>
                  <a:srgbClr val="555F6D"/>
                </a:solidFill>
              </a:rPr>
              <a:t>BCSE355L – Cloud Architecture Design · Project Phase-I · Dr. Priya V</a:t>
            </a:r>
          </a:p>
          <a:p>
            <a:r>
              <a:rPr sz="1600">
                <a:solidFill>
                  <a:srgbClr val="1F3A5F"/>
                </a:solidFill>
              </a:rPr>
              <a:t>Keshav Khandelwal (24BIT0461)  ·  Somasundar Shivappa Badami (24BIT0465)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problem: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Declared ≠ deployed.  </a:t>
            </a:r>
            <a:r>
              <a:rPr sz="1700"/>
              <a:t>Terraform describes the infrastructure, but console edits, hot-fixes and scripts change the live AWS account afterwards.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Drift causes breaches.  </a:t>
            </a:r>
            <a:r>
              <a:rPr sz="1700"/>
              <a:t>A public S3 bucket, SSH open to 0.0.0.0/0, or an IAM role escalated to Action:* can each expose the whole account.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Today's tools fall short.  </a:t>
            </a:r>
            <a:r>
              <a:rPr sz="1700"/>
              <a:t>Static scanners never see the live account; terraform plan / AWS Config say “something changed” without saying how dangerous; ML/LLM tools are opaque or hallucinate.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Goal.  </a:t>
            </a:r>
            <a:r>
              <a:rPr sz="1700"/>
              <a:t>Detect drift continuously, rate its risk, explain why, and respond within the free 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Literature survey — 15 papers (2023–2026)</a:t>
            </a:r>
          </a:p>
          <a:p>
            <a:r>
              <a:rPr sz="1500">
                <a:solidFill>
                  <a:srgbClr val="555F6D"/>
                </a:solidFill>
              </a:rPr>
              <a:t>IEEE · ACM · Springer · Frontiers · Scopus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1F3A5F"/>
                </a:solidFill>
              </a:rPr>
              <a:t>Static IaC analysis  </a:t>
            </a:r>
            <a:r>
              <a:rPr sz="1600"/>
              <a:t>GLITCH (ASE'23), GASEL (MSR'23), SLI-KUBE (TOSEM'23), TerraMetrics (ICPC'24), Verdet (EMSE'25), SlsDetector (TOSEM'26) → miss post-deployment changes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3A5F"/>
                </a:solidFill>
              </a:rPr>
              <a:t>Drift &amp; state  </a:t>
            </a:r>
            <a:r>
              <a:rPr sz="1600"/>
              <a:t>Thiyagarajan (IJCNIS'24), Hassan (FSE'24), RIVA (ACM'26) → no severity, or costly LLM agents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3A5F"/>
                </a:solidFill>
              </a:rPr>
              <a:t>Repair  </a:t>
            </a:r>
            <a:r>
              <a:rPr sz="1600"/>
              <a:t>InfraFix (ISSTA'25), LLM repair (SecDev'24) → fixes code; 20% hallucinated fixes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3A5F"/>
                </a:solidFill>
              </a:rPr>
              <a:t>ML / XAI for security  </a:t>
            </a:r>
            <a:r>
              <a:rPr sz="1600"/>
              <a:t>Begoug (MSR'24), Saleh (CCSW'24), Rjoub (TNSM'23), Mohale (Frontiers'25) → explanations needed, not yet applied to cloud drift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Research gap →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/>
              <a:t>•  Static scanners never observe the deployed account, so post-deployment drift goes unnoticed.</a:t>
            </a:r>
          </a:p>
          <a:p>
            <a:pPr>
              <a:spcAft>
                <a:spcPts val="1000"/>
              </a:spcAft>
            </a:pPr>
            <a:r>
              <a:rPr sz="1500"/>
              <a:t>•  Drift detectors report that something changed, but not how severe it is, so every alert looks equally urgent.</a:t>
            </a:r>
          </a:p>
          <a:p>
            <a:pPr>
              <a:spcAft>
                <a:spcPts val="1000"/>
              </a:spcAft>
            </a:pPr>
            <a:r>
              <a:rPr sz="1500"/>
              <a:t>•  ML-based approaches are opaque; none explains which property of the change made it risky.</a:t>
            </a:r>
          </a:p>
          <a:p>
            <a:pPr>
              <a:spcAft>
                <a:spcPts val="1000"/>
              </a:spcAft>
            </a:pPr>
            <a:r>
              <a:rPr sz="1500"/>
              <a:t>•  LLM-based approaches are expensive, non-deterministic and hallucinate a measurable share of their output.</a:t>
            </a:r>
          </a:p>
          <a:p>
            <a:pPr>
              <a:spcAft>
                <a:spcPts val="1000"/>
              </a:spcAft>
            </a:pPr>
            <a:r>
              <a:rPr sz="1500"/>
              <a:t>•  Automated responses either do not exist or rewrite code; safe, scoped remediation of the live resource is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•  1. Detect drift continuously</a:t>
            </a:r>
          </a:p>
          <a:p>
            <a:pPr>
              <a:spcAft>
                <a:spcPts val="1000"/>
              </a:spcAft>
            </a:pPr>
            <a:r>
              <a:rPr sz="1700"/>
              <a:t>•  2. Classify risk accurately</a:t>
            </a:r>
          </a:p>
          <a:p>
            <a:pPr>
              <a:spcAft>
                <a:spcPts val="1000"/>
              </a:spcAft>
            </a:pPr>
            <a:r>
              <a:rPr sz="1700"/>
              <a:t>•  3. Explain every prediction</a:t>
            </a:r>
          </a:p>
          <a:p>
            <a:pPr>
              <a:spcAft>
                <a:spcPts val="1000"/>
              </a:spcAft>
            </a:pPr>
            <a:r>
              <a:rPr sz="1700"/>
              <a:t>•  4. Respond automatically and safely</a:t>
            </a:r>
          </a:p>
          <a:p>
            <a:pPr>
              <a:spcAft>
                <a:spcPts val="1000"/>
              </a:spcAft>
            </a:pPr>
            <a:r>
              <a:rPr sz="1700"/>
              <a:t>•  5. Secure access and observability</a:t>
            </a:r>
          </a:p>
          <a:p>
            <a:pPr>
              <a:spcAft>
                <a:spcPts val="1000"/>
              </a:spcAft>
            </a:pPr>
            <a:r>
              <a:rPr sz="1700"/>
              <a:t>•  6. Stay inside the AWS free tier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AWS cloud architecture</a:t>
            </a:r>
          </a:p>
        </p:txBody>
      </p:sp>
      <p:pic>
        <p:nvPicPr>
          <p:cNvPr id="4" name="Picture 3" descr="AW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875115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Complete system architecture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97280"/>
            <a:ext cx="874586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Runtime, not just code:  </a:t>
            </a:r>
            <a:r>
              <a:rPr sz="1700"/>
              <a:t>compares live AWS with Terraform's desired state every hour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Risk level per drift:  </a:t>
            </a:r>
            <a:r>
              <a:rPr sz="1700"/>
              <a:t>9 security features → Low / Medium / High / Critical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Explainable:  </a:t>
            </a:r>
            <a:r>
              <a:rPr sz="1700"/>
              <a:t>exact SHAP explanations for every prediction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No guessing:  </a:t>
            </a:r>
            <a:r>
              <a:rPr sz="1700"/>
              <a:t>never-seen changes are flagged Review, not forced into a class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Fully serverless AWS:  </a:t>
            </a:r>
            <a:r>
              <a:rPr sz="1700"/>
              <a:t>EventBridge → Lambda → DynamoDB / SNS / CloudWatch, Cognito-secured API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Safe automation:  </a:t>
            </a:r>
            <a:r>
              <a:rPr sz="1700"/>
              <a:t>opt-in revert of public S3 access and internet-open SSH/RDP only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1F3A5F"/>
                </a:solidFill>
              </a:rPr>
              <a:t>Free-tier by design:  </a:t>
            </a:r>
            <a:r>
              <a:rPr sz="1700"/>
              <a:t>210 KB dependency-free model, $1 budget guard-rail, least-privilege IAM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Dataset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1F3A5F"/>
                </a:solidFill>
              </a:rPr>
              <a:t>711 records,  </a:t>
            </a:r>
            <a:r>
              <a:rPr sz="1500"/>
              <a:t>20 drift scenarios (7 S3, 7 security group, 6 IAM), balanced across 4 risk levels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F3A5F"/>
                </a:solidFill>
              </a:rPr>
              <a:t>9 features:  </a:t>
            </a:r>
            <a:r>
              <a:rPr sz="1500"/>
              <a:t>resource type, changed attribute, sensitivity, public exposure, encryption change, privilege change, port exposure, magnitude, drift frequency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F3A5F"/>
                </a:solidFill>
              </a:rPr>
              <a:t>Random Forest (200 trees)  </a:t>
            </a:r>
            <a:r>
              <a:rPr sz="1500"/>
              <a:t>+ Decision Tree baseline; SHAP TreeExplainer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F3A5F"/>
                </a:solidFill>
              </a:rPr>
              <a:t>Exported to 210 KB JSON  </a:t>
            </a:r>
            <a:r>
              <a:rPr sz="1500"/>
              <a:t>→ pure-Python inference in Lambda, identical to scikit-learn on all 711 records</a:t>
            </a:r>
          </a:p>
        </p:txBody>
      </p:sp>
      <p:pic>
        <p:nvPicPr>
          <p:cNvPr id="5" name="Picture 4" descr="globa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937760" cy="47360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57200">
                <a:tc>
                  <a:txBody>
                    <a:bodyPr/>
                    <a:lstStyle/>
                    <a:p>
                      <a:r>
                        <a:rPr sz="1500"/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Macro F1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RF – record-level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RF – scenarios held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0.296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DT – scenarios held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0.565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6576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/>
              <a:t>•  218 automated tests pass (moto-simulated AWS)</a:t>
            </a:r>
          </a:p>
          <a:p>
            <a:pPr>
              <a:spcAft>
                <a:spcPts val="1000"/>
              </a:spcAft>
            </a:pPr>
            <a:r>
              <a:rPr sz="1600"/>
              <a:t>•  Public SSH → Critical + email; auto-remediation verified</a:t>
            </a:r>
          </a:p>
          <a:p>
            <a:pPr>
              <a:spcAft>
                <a:spcPts val="1000"/>
              </a:spcAft>
            </a:pPr>
            <a:r>
              <a:rPr sz="1600"/>
              <a:t>•  Unseen change → Review (never guessed)</a:t>
            </a:r>
          </a:p>
          <a:p>
            <a:pPr>
              <a:spcAft>
                <a:spcPts val="1000"/>
              </a:spcAft>
            </a:pPr>
            <a:r>
              <a:rPr sz="1600"/>
              <a:t>•  Honest limitation: generalisation to new scenarios</a:t>
            </a:r>
          </a:p>
        </p:txBody>
      </p:sp>
      <p:pic>
        <p:nvPicPr>
          <p:cNvPr id="6" name="Picture 5" descr="local_cri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80160"/>
            <a:ext cx="5120640" cy="44557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Live demo · GitHub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1F3A5F"/>
                </a:solidFill>
              </a:rPr>
              <a:t>Demo:  </a:t>
            </a:r>
            <a:r>
              <a:rPr sz="1600"/>
              <a:t>terraform apply → open SSH 0.0.0.0/0 in console → Scan now → Critical email → auto-revert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3A5F"/>
                </a:solidFill>
              </a:rPr>
              <a:t>GitHub:  </a:t>
            </a:r>
            <a:r>
              <a:rPr sz="1600"/>
              <a:t>InfraDriftGuard_Cloud_Project_2026 — main ← develop ← feature/student1, feature/student2, tag v1.0-Phase1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3A5F"/>
                </a:solidFill>
              </a:rPr>
              <a:t>Cost:  </a:t>
            </a:r>
            <a:r>
              <a:rPr sz="1600"/>
              <a:t>$0 within free tier; $1 AWS Budget guard-rail; terraform destroy when done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3A5F"/>
                </a:solidFill>
              </a:rPr>
              <a:t>Phase II:  </a:t>
            </a:r>
            <a:r>
              <a:rPr sz="1600"/>
              <a:t>real drift data, CloudTrail event-driven scans, more services (RDS, KMS, VPC), multi-account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